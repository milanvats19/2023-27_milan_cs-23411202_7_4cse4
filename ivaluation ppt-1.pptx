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96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">
  <p:cSld name="Title Slide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145730" name="Straight Connector 31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/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1" name="Straight Connector 20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/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599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0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1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2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3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4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5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6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48607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08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algn="r" indent="0" marL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104860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10486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6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6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10486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b="0" cap="none" sz="4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44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algn="l" indent="0" marL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104864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4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72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73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7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104867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7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49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0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5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2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5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1048654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5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1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104861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1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1048590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59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4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85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indent="0" marL="0">
              <a:buNone/>
              <a:defRPr sz="1400"/>
            </a:lvl1pPr>
            <a:lvl2pPr indent="0" marL="457063">
              <a:buNone/>
              <a:defRPr sz="1400"/>
            </a:lvl2pPr>
            <a:lvl3pPr indent="0" marL="914126">
              <a:buNone/>
              <a:defRPr sz="1200"/>
            </a:lvl3pPr>
            <a:lvl4pPr indent="0" marL="1371189">
              <a:buNone/>
              <a:defRPr sz="1000"/>
            </a:lvl4pPr>
            <a:lvl5pPr indent="0" marL="1828251">
              <a:buNone/>
              <a:defRPr sz="1000"/>
            </a:lvl5pPr>
            <a:lvl6pPr indent="0" marL="2285314">
              <a:buNone/>
              <a:defRPr sz="1000"/>
            </a:lvl6pPr>
            <a:lvl7pPr indent="0" marL="2742377">
              <a:buNone/>
              <a:defRPr sz="1000"/>
            </a:lvl7pPr>
            <a:lvl8pPr indent="0" marL="3199440">
              <a:buNone/>
              <a:defRPr sz="1000"/>
            </a:lvl8pPr>
            <a:lvl9pPr indent="0" marL="3656503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104868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8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b="0" sz="2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3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600"/>
            </a:lvl2pPr>
            <a:lvl3pPr indent="0" marL="914400">
              <a:buNone/>
              <a:defRPr sz="16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3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indent="0" marL="0">
              <a:buNone/>
              <a:defRPr sz="12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104863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3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67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104866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25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indent="0" marL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6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104862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2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  <p:sp>
        <p:nvSpPr>
          <p:cNvPr id="1048630" name="TextBox 19"/>
          <p:cNvSpPr txBox="1"/>
          <p:nvPr/>
        </p:nvSpPr>
        <p:spPr>
          <a:xfrm>
            <a:off x="541870" y="790378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31" name="TextBox 21"/>
          <p:cNvSpPr txBox="1"/>
          <p:nvPr/>
        </p:nvSpPr>
        <p:spPr>
          <a:xfrm>
            <a:off x="8893011" y="2886556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57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104865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1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indent="0" marL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8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10486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  <p:sp>
        <p:nvSpPr>
          <p:cNvPr id="1048622" name="TextBox 23"/>
          <p:cNvSpPr txBox="1"/>
          <p:nvPr/>
        </p:nvSpPr>
        <p:spPr>
          <a:xfrm>
            <a:off x="541870" y="790378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23" name="TextBox 24"/>
          <p:cNvSpPr txBox="1"/>
          <p:nvPr/>
        </p:nvSpPr>
        <p:spPr>
          <a:xfrm>
            <a:off x="8893011" y="2886556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78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indent="0" marL="0">
              <a:buFontTx/>
              <a:buNone/>
              <a:defRPr sz="2400">
                <a:solidFill>
                  <a:schemeClr val="accent1"/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9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104868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8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3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4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104864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anchor="ctr" vert="eaVert"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9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10486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145728" name="Straight Connector 19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/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29" name="Straight Connector 20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/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576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7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8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9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0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1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2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3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48584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/>
        </p:spPr>
        <p:txBody>
          <a:bodyPr anchor="t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85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86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FF1052-559C-4565-BF3B-C9E4AB6B585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104858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F10D46F-64E3-481D-8906-C7BA503BB1A6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dk1" bg2="dk2" tx1="lt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eaLnBrk="1" hangingPunct="1" latinLnBrk="0" rtl="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eaLnBrk="1" hangingPunct="1" indent="-342900" latinLnBrk="0" marL="3429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Rectangle 1"/>
          <p:cNvSpPr>
            <a:spLocks noChangeArrowheads="1"/>
          </p:cNvSpPr>
          <p:nvPr/>
        </p:nvSpPr>
        <p:spPr bwMode="auto">
          <a:xfrm>
            <a:off x="973394" y="2244814"/>
            <a:ext cx="10736940" cy="1793242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altLang="en-US" b="1" dirty="0" sz="3200" lang="en-US">
                <a:latin typeface="Algerian" panose="04020705040A02060702" pitchFamily="82" charset="0"/>
              </a:rPr>
              <a:t>Stock Price Forecasting Using LSTM and </a:t>
            </a:r>
            <a:r>
              <a:rPr altLang="en-US" b="1" dirty="0" sz="3200" lang="en-US" err="1">
                <a:latin typeface="Algerian" panose="04020705040A02060702" pitchFamily="82" charset="0"/>
              </a:rPr>
              <a:t>Gradio</a:t>
            </a:r>
            <a:endParaRPr altLang="en-US" b="1" dirty="0" sz="3200" lang="en-US">
              <a:latin typeface="Algerian" panose="04020705040A02060702" pitchFamily="82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altLang="en-US" b="1" dirty="0" sz="2800" lang="en-US">
                <a:latin typeface="Algerian" panose="04020705040A02060702" pitchFamily="82" charset="0"/>
              </a:rPr>
              <a:t> </a:t>
            </a:r>
          </a:p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1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Submitted by: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Roll No: CS-2341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altLang="en-US" lang="zh-CN"/>
          </a:p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1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Institution: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IILM University, Greater Noida 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Rectangle 1"/>
          <p:cNvSpPr>
            <a:spLocks noChangeArrowheads="1"/>
          </p:cNvSpPr>
          <p:nvPr/>
        </p:nvSpPr>
        <p:spPr bwMode="auto">
          <a:xfrm>
            <a:off x="1970565" y="1994138"/>
            <a:ext cx="8042587" cy="1844041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baseline="0" b="1" cap="none" dirty="0" sz="2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Overview:</a:t>
            </a:r>
            <a:r>
              <a:rPr altLang="en-US" baseline="0" b="0" cap="none" dirty="0" sz="2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 markets are volatile and influenced by multiple factors </a:t>
            </a:r>
          </a:p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models struggle with non-linear patterns </a:t>
            </a:r>
          </a:p>
          <a:p>
            <a:pPr algn="ctr" eaLnBrk="0" fontAlgn="base" hangingPunct="0" lvl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altLang="en-US" baseline="0" b="0" cap="none" dirty="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offers adaptive, data-driven forecasting </a:t>
            </a:r>
          </a:p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goal: Build a robust ML system for accurate stock prediction 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97152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16626" y="3645146"/>
            <a:ext cx="3324444" cy="3064953"/>
          </a:xfrm>
          <a:prstGeom prst="rect"/>
        </p:spPr>
      </p:pic>
      <p:pic>
        <p:nvPicPr>
          <p:cNvPr id="2097153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84333" y="419597"/>
            <a:ext cx="2534070" cy="1425972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extBox 2"/>
          <p:cNvSpPr txBox="1"/>
          <p:nvPr/>
        </p:nvSpPr>
        <p:spPr>
          <a:xfrm>
            <a:off x="469336" y="716083"/>
            <a:ext cx="9556954" cy="2110741"/>
          </a:xfrm>
          <a:prstGeom prst="rect"/>
          <a:noFill/>
        </p:spPr>
        <p:txBody>
          <a:bodyPr wrap="square">
            <a:spAutoFit/>
          </a:bodyPr>
          <a:p>
            <a:pPr algn="ctr">
              <a:buNone/>
            </a:pPr>
            <a:r>
              <a:rPr b="1" dirty="0" sz="2800" lang="en-IN"/>
              <a:t>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lang="en-IN"/>
              <a:t>Compare ML algorithms: Linear Regression, Random Forest, LSTM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lang="en-IN"/>
              <a:t>Perform data preprocessing and feature engineering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lang="en-IN"/>
              <a:t>Improve prediction accuracy through model 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lang="en-IN"/>
              <a:t>Visualize predictions for decision-making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lang="en-IN"/>
              <a:t>Design a scalable and modular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lang="en-IN"/>
              <a:t>Evaluate real-world applicability</a:t>
            </a:r>
          </a:p>
        </p:txBody>
      </p:sp>
      <p:pic>
        <p:nvPicPr>
          <p:cNvPr id="2097154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641869" y="3288779"/>
            <a:ext cx="6587012" cy="3123596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extBox 2"/>
          <p:cNvSpPr txBox="1"/>
          <p:nvPr/>
        </p:nvSpPr>
        <p:spPr>
          <a:xfrm>
            <a:off x="1622323" y="445105"/>
            <a:ext cx="8947354" cy="5463541"/>
          </a:xfrm>
          <a:prstGeom prst="rect"/>
          <a:noFill/>
        </p:spPr>
        <p:txBody>
          <a:bodyPr wrap="square">
            <a:spAutoFit/>
          </a:bodyPr>
          <a:p>
            <a:pPr algn="ctr">
              <a:buNone/>
            </a:pPr>
            <a:r>
              <a:rPr b="1" dirty="0" sz="2800" lang="en-IN"/>
              <a:t>Methodology</a:t>
            </a:r>
          </a:p>
          <a:p>
            <a:pPr algn="ctr">
              <a:buNone/>
            </a:pPr>
            <a:endParaRPr b="1" dirty="0" sz="2800" lang="en-IN"/>
          </a:p>
          <a:p>
            <a:pPr>
              <a:buFont typeface="Arial" panose="020B0604020202020204" pitchFamily="34" charset="0"/>
              <a:buChar char="•"/>
            </a:pPr>
            <a:r>
              <a:rPr b="1" dirty="0" lang="en-IN"/>
              <a:t>Architecture Overview:</a:t>
            </a:r>
          </a:p>
          <a:p>
            <a:endParaRPr b="1" dirty="0" lang="en-IN"/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dirty="0" lang="en-IN"/>
              <a:t>Data → Preprocessing → Feature Engineering → Model Training → Prediction</a:t>
            </a:r>
          </a:p>
          <a:p>
            <a:pPr lvl="1"/>
            <a:endParaRPr dirty="0" lang="en-IN"/>
          </a:p>
          <a:p>
            <a:pPr>
              <a:buFont typeface="Arial" panose="020B0604020202020204" pitchFamily="34" charset="0"/>
              <a:buChar char="•"/>
            </a:pPr>
            <a:r>
              <a:rPr b="1" dirty="0" lang="en-IN"/>
              <a:t>Data Sources</a:t>
            </a:r>
            <a:r>
              <a:rPr dirty="0" lang="en-IN"/>
              <a:t>:</a:t>
            </a:r>
          </a:p>
          <a:p>
            <a:endParaRPr dirty="0" lang="en-IN"/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dirty="0" lang="en-IN"/>
              <a:t>Yahoo Finance API, CSV datasets</a:t>
            </a:r>
          </a:p>
          <a:p>
            <a:pPr lvl="1"/>
            <a:endParaRPr dirty="0" lang="en-IN"/>
          </a:p>
          <a:p>
            <a:pPr>
              <a:buFont typeface="Arial" panose="020B0604020202020204" pitchFamily="34" charset="0"/>
              <a:buChar char="•"/>
            </a:pPr>
            <a:r>
              <a:rPr b="1" dirty="0" lang="en-IN"/>
              <a:t>Software Tools</a:t>
            </a:r>
            <a:r>
              <a:rPr dirty="0" lang="en-IN"/>
              <a:t>:</a:t>
            </a:r>
          </a:p>
          <a:p>
            <a:endParaRPr dirty="0" lang="en-IN"/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dirty="0" lang="en-IN"/>
              <a:t>Python, Pandas, NumPy</a:t>
            </a:r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dirty="0" lang="en-IN"/>
              <a:t>Scikit-learn, TensorFlow</a:t>
            </a:r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dirty="0" lang="en-IN"/>
              <a:t>Flask/Django for backend</a:t>
            </a:r>
          </a:p>
          <a:p>
            <a:pPr lvl="1"/>
            <a:endParaRPr dirty="0" lang="en-IN"/>
          </a:p>
          <a:p>
            <a:pPr>
              <a:buFont typeface="Arial" panose="020B0604020202020204" pitchFamily="34" charset="0"/>
              <a:buChar char="•"/>
            </a:pPr>
            <a:r>
              <a:rPr b="1" dirty="0" lang="en-IN"/>
              <a:t>Technical Indicators:</a:t>
            </a:r>
          </a:p>
          <a:p>
            <a:endParaRPr b="1" dirty="0" lang="en-IN"/>
          </a:p>
          <a:p>
            <a:pPr>
              <a:buFont typeface="Arial" panose="020B0604020202020204" pitchFamily="34" charset="0"/>
              <a:buChar char="•"/>
            </a:pPr>
            <a:r>
              <a:rPr dirty="0" lang="en-IN"/>
              <a:t>MA, RSI, MACD, Bollinger Bands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extBox 2"/>
          <p:cNvSpPr txBox="1"/>
          <p:nvPr/>
        </p:nvSpPr>
        <p:spPr>
          <a:xfrm>
            <a:off x="1592825" y="1596327"/>
            <a:ext cx="9242323" cy="3177540"/>
          </a:xfrm>
          <a:prstGeom prst="rect"/>
          <a:noFill/>
        </p:spPr>
        <p:txBody>
          <a:bodyPr wrap="square">
            <a:spAutoFit/>
          </a:bodyPr>
          <a:p>
            <a:pPr algn="ctr">
              <a:buNone/>
            </a:pPr>
            <a:r>
              <a:rPr b="1" dirty="0" sz="2800" lang="en-IN"/>
              <a:t>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lang="en-IN"/>
              <a:t>Data Collection &amp; Preprocessing:</a:t>
            </a:r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dirty="0" lang="en-IN"/>
              <a:t>Handle missing values, smooth outliers</a:t>
            </a:r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dirty="0" lang="en-IN"/>
              <a:t>Normalize features for model convergence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lang="en-IN"/>
              <a:t>Model Training:</a:t>
            </a:r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dirty="0" lang="en-IN"/>
              <a:t>Baseline: Linear Regression, Decision Trees</a:t>
            </a:r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dirty="0" lang="en-IN"/>
              <a:t>Advanced: Random Forest, LSTM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lang="en-IN"/>
              <a:t>Evaluation Metrics:</a:t>
            </a:r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dirty="0" lang="en-IN"/>
              <a:t>MAE, RMSE, R² 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lang="en-IN"/>
              <a:t>Visualization: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lang="en-IN"/>
              <a:t>Interactive dashboards using </a:t>
            </a:r>
            <a:r>
              <a:rPr dirty="0" lang="en-IN" err="1"/>
              <a:t>Gradio</a:t>
            </a:r>
            <a:endParaRPr dirty="0"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extBox 2"/>
          <p:cNvSpPr txBox="1"/>
          <p:nvPr/>
        </p:nvSpPr>
        <p:spPr>
          <a:xfrm>
            <a:off x="1288025" y="1413063"/>
            <a:ext cx="9615949" cy="3977641"/>
          </a:xfrm>
          <a:prstGeom prst="rect"/>
          <a:noFill/>
        </p:spPr>
        <p:txBody>
          <a:bodyPr wrap="square">
            <a:spAutoFit/>
          </a:bodyPr>
          <a:p>
            <a:pPr algn="ctr">
              <a:buNone/>
            </a:pPr>
            <a:r>
              <a:rPr b="1" dirty="0" sz="2800" lang="en-IN"/>
              <a:t>Results and Discussion</a:t>
            </a:r>
          </a:p>
          <a:p>
            <a:pPr>
              <a:buNone/>
            </a:pPr>
            <a:endParaRPr b="1" dirty="0" sz="2800" lang="en-IN"/>
          </a:p>
          <a:p>
            <a:pPr>
              <a:buFont typeface="Arial" panose="020B0604020202020204" pitchFamily="34" charset="0"/>
              <a:buChar char="•"/>
            </a:pPr>
            <a:r>
              <a:rPr dirty="0" sz="2000" lang="en-IN"/>
              <a:t>Findings:</a:t>
            </a:r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dirty="0" sz="2000" lang="en-IN"/>
              <a:t>LSTM achieved highest accuracy</a:t>
            </a:r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dirty="0" sz="2000" lang="en-IN"/>
              <a:t>Random Forest handled noise well</a:t>
            </a:r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dirty="0" sz="2000" lang="en-IN"/>
              <a:t>Feature engineering improved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sz="2000" lang="en-IN"/>
              <a:t>Visual Insights:</a:t>
            </a:r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dirty="0" sz="2000" lang="en-IN"/>
              <a:t>Predicted vs. actual price plots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sz="2000" lang="en-IN"/>
              <a:t>Limitations:</a:t>
            </a:r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dirty="0" sz="2000" lang="en-IN"/>
              <a:t>Data sensitivity, interpretability 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sz="2000" lang="en-IN"/>
              <a:t>Scalability: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sz="2000" lang="en-IN"/>
              <a:t>Modular design supports real-time expansion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extBox 2"/>
          <p:cNvSpPr txBox="1"/>
          <p:nvPr/>
        </p:nvSpPr>
        <p:spPr>
          <a:xfrm>
            <a:off x="1327353" y="2228671"/>
            <a:ext cx="9812595" cy="2400657"/>
          </a:xfrm>
          <a:prstGeom prst="rect"/>
          <a:noFill/>
        </p:spPr>
        <p:txBody>
          <a:bodyPr wrap="square">
            <a:spAutoFit/>
          </a:bodyPr>
          <a:p>
            <a:pPr algn="ctr">
              <a:buNone/>
            </a:pPr>
            <a:r>
              <a:rPr b="1" dirty="0" sz="2400" lang="en-US"/>
              <a:t>Conclusion &amp; Future 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lang="en-US"/>
              <a:t>Conclusion:</a:t>
            </a:r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dirty="0" lang="en-US"/>
              <a:t>ML-based forecasting is effective and scalable</a:t>
            </a:r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dirty="0" lang="en-US"/>
              <a:t>LSTM excels in time series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lang="en-US"/>
              <a:t>Future Scope: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lang="en-US"/>
              <a:t>Integration with live trading platforms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lang="en-US"/>
              <a:t>Use of Transformers for enhanced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lang="en-US"/>
              <a:t>Portfolio-level forecasting and risk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/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Warm">
      <a:dk1>
        <a:sysClr lastClr="000000" val="windowText"/>
      </a:dk1>
      <a:lt1>
        <a:sysClr lastClr="FFFFFF" val="window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r="5400000" dist="25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r="5400000" dist="254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r="5400000" dist="254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dir="t" rig="contrasting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ANSHIKA THAKUR</dc:creator>
  <cp:lastModifiedBy>ANSHIKA THAKUR</cp:lastModifiedBy>
  <dcterms:created xsi:type="dcterms:W3CDTF">2025-11-13T10:48:56Z</dcterms:created>
  <dcterms:modified xsi:type="dcterms:W3CDTF">2026-09-10T14:44:29Z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b940e159e46845ea978b733383e8756e</vt:lpwstr>
  </property>
</Properties>
</file>